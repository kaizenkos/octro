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257783-35F4-B4D1-23AD-9DCB2F74A3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D7678-2FC2-A551-1243-6864021DE5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C460C9-B0B7-4216-54C3-42EF1DC77C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8FC17-76D5-0652-3CD5-3B288F3FC9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EDF8B9-61C9-412F-793A-7076E5302D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6ECF8B-75BE-4890-E0A2-6B22C9EF4D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“Octro adds a decision-support layer on top of financial rails. Our engine projects balances into the future, looks for a no-debt option first, and protects savings reserves. To measure downside risk, we use 95% CVaR, which focuses on losses in the worst scenarios.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Our approach is inspired by Model Predictive Control, or MPC: look ahead, make a plan, and adjust it as new data arrives. The agent is the coordinator: it calls the right tools and explains the result, but it does not decide the financial amounts. MCP is the protocol that lets an agent discover and call those tools.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We also have an early Bayesian-style statistical baseline to estimate delays with uncertainty. It is still experimental: we do not yet have enough validated history to train and calibrate a reliable ML model, so it does not make decisions.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 short: Octro reasons about cash flow; XRPL records and validates transactions.”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BD2C7E-1D55-BA48-25BC-F4D51E397F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28520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027300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99222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63205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9988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0673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94377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4878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249708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0813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3866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53414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82354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780986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21682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8748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046875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70523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05202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18610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00132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470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74427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28673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067290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33099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941245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6981151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542951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9630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27608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162839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541586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3561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552505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124878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13086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329920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02943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9603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154225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13881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86501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559630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434117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56773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30430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57168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9055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71033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14506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37234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8999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6992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78841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93270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825805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76802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84162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60233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15530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6658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450732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35376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9496746" name="TextBox 2"/>
          <p:cNvSpPr txBox="1"/>
          <p:nvPr/>
        </p:nvSpPr>
        <p:spPr bwMode="auto"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6400" b="1">
                <a:solidFill>
                  <a:srgbClr val="F5F2E8"/>
                </a:solidFill>
                <a:latin typeface="Georgia"/>
              </a:rPr>
              <a:t>Octro</a:t>
            </a:r>
            <a:endParaRPr/>
          </a:p>
        </p:txBody>
      </p:sp>
      <p:sp>
        <p:nvSpPr>
          <p:cNvPr id="1349741040" name="TextBox 3"/>
          <p:cNvSpPr txBox="1"/>
          <p:nvPr/>
        </p:nvSpPr>
        <p:spPr bwMode="auto">
          <a:xfrm>
            <a:off x="868680" y="35204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>
                <a:solidFill>
                  <a:srgbClr val="B8C98A"/>
                </a:solidFill>
                <a:latin typeface="Arial"/>
              </a:rPr>
              <a:t>See a cash shortfall coming, choose no-debt options first, execute on XRPL only when it's actually needed.</a:t>
            </a:r>
            <a:endParaRPr/>
          </a:p>
        </p:txBody>
      </p:sp>
      <p:sp>
        <p:nvSpPr>
          <p:cNvPr id="2110931761" name="TextBox 4"/>
          <p:cNvSpPr txBox="1"/>
          <p:nvPr/>
        </p:nvSpPr>
        <p:spPr bwMode="auto"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>
                <a:solidFill>
                  <a:srgbClr val="F5F2E8"/>
                </a:solidFill>
                <a:latin typeface="Arial"/>
              </a:rPr>
              <a:t>CDC v2.2 · Track 1 Loaded · Kevin, Samet, Augustin</a:t>
            </a:r>
            <a:endParaRPr/>
          </a:p>
        </p:txBody>
      </p:sp>
      <p:sp>
        <p:nvSpPr>
          <p:cNvPr id="506101074" name="TextBox 5"/>
          <p:cNvSpPr txBox="1"/>
          <p:nvPr/>
        </p:nvSpPr>
        <p:spPr bwMode="auto"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B8C98A"/>
                </a:solidFill>
                <a:latin typeface="Arial"/>
              </a:rPr>
              <a:t>1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9645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8187425" name="TextBox 2"/>
          <p:cNvSpPr txBox="1"/>
          <p:nvPr/>
        </p:nvSpPr>
        <p:spPr bwMode="auto">
          <a:xfrm>
            <a:off x="658368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304B35"/>
                </a:solidFill>
                <a:latin typeface="Arial"/>
              </a:rPr>
              <a:t>THE SUBJECT</a:t>
            </a:r>
            <a:endParaRPr/>
          </a:p>
        </p:txBody>
      </p:sp>
      <p:sp>
        <p:nvSpPr>
          <p:cNvPr id="1740046780" name="TextBox 3"/>
          <p:cNvSpPr txBox="1"/>
          <p:nvPr/>
        </p:nvSpPr>
        <p:spPr bwMode="auto"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20271F"/>
                </a:solidFill>
                <a:latin typeface="Georgia"/>
              </a:rPr>
              <a:t>One engine, three audiences, one promise</a:t>
            </a:r>
            <a:endParaRPr/>
          </a:p>
        </p:txBody>
      </p:sp>
      <p:sp>
        <p:nvSpPr>
          <p:cNvPr id="899047201" name="Rectangle 4"/>
          <p:cNvSpPr/>
          <p:nvPr/>
        </p:nvSpPr>
        <p:spPr bwMode="auto">
          <a:xfrm>
            <a:off x="640080" y="1417320"/>
            <a:ext cx="1280160" cy="508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6333420" name="TextBox 5"/>
          <p:cNvSpPr txBox="1"/>
          <p:nvPr/>
        </p:nvSpPr>
        <p:spPr bwMode="auto"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100">
                <a:solidFill>
                  <a:srgbClr val="6B7463"/>
                </a:solidFill>
                <a:latin typeface="Arial"/>
              </a:rPr>
              <a:t>Octro v2.2 — Track 1 Loaded</a:t>
            </a:r>
            <a:endParaRPr/>
          </a:p>
        </p:txBody>
      </p:sp>
      <p:sp>
        <p:nvSpPr>
          <p:cNvPr id="1653317378" name="TextBox 6"/>
          <p:cNvSpPr txBox="1"/>
          <p:nvPr/>
        </p:nvSpPr>
        <p:spPr bwMode="auto"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0271F"/>
                </a:solidFill>
                <a:latin typeface="Arial"/>
              </a:rPr>
              <a:t>▸ Octro brings together available cash, expected income, and upcoming expenses</a:t>
            </a:r>
            <a:endParaRPr/>
          </a:p>
          <a:p>
            <a:pPr lvl="1">
              <a:spcAft>
                <a:spcPts val="400"/>
              </a:spcAft>
              <a:defRPr/>
            </a:pPr>
            <a:r>
              <a:rPr sz="1600" b="0">
                <a:solidFill>
                  <a:srgbClr val="304B35"/>
                </a:solidFill>
                <a:latin typeface="Arial"/>
              </a:rPr>
              <a:t>–  Individuals, freelancers, and organizations run on the same financial coordination engine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0271F"/>
                </a:solidFill>
                <a:latin typeface="Arial"/>
              </a:rPr>
              <a:t>▸ The first question is never credit</a:t>
            </a:r>
            <a:endParaRPr/>
          </a:p>
          <a:p>
            <a:pPr lvl="1">
              <a:spcAft>
                <a:spcPts val="400"/>
              </a:spcAft>
              <a:defRPr/>
            </a:pPr>
            <a:r>
              <a:rPr sz="1600" b="0">
                <a:solidFill>
                  <a:srgbClr val="304B35"/>
                </a:solidFill>
                <a:latin typeface="Arial"/>
              </a:rPr>
              <a:t>–  Priority to own funds and no-debt adjustments before any financing comparison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0271F"/>
                </a:solidFill>
                <a:latin typeface="Arial"/>
              </a:rPr>
              <a:t>▸ XRPL credit only steps in when it's genuinely relevant</a:t>
            </a:r>
            <a:endParaRPr/>
          </a:p>
          <a:p>
            <a:pPr lvl="1">
              <a:spcAft>
                <a:spcPts val="400"/>
              </a:spcAft>
              <a:defRPr/>
            </a:pPr>
            <a:r>
              <a:rPr sz="1600" b="0">
                <a:solidFill>
                  <a:srgbClr val="304B35"/>
                </a:solidFill>
                <a:latin typeface="Arial"/>
              </a:rPr>
              <a:t>–  Track 1 Loaded: XLS-65/66 loan cycle with Credentials &amp; Permissioned Domains on a private vault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0271F"/>
                </a:solidFill>
                <a:latin typeface="Arial"/>
              </a:rPr>
              <a:t>▸ A liquidity buffer wallet advances withdrawals when the shared vault is temporarily illiquid</a:t>
            </a:r>
            <a:endParaRPr/>
          </a:p>
          <a:p>
            <a:pPr lvl="1">
              <a:spcAft>
                <a:spcPts val="400"/>
              </a:spcAft>
              <a:defRPr/>
            </a:pPr>
            <a:r>
              <a:rPr sz="1600" b="0">
                <a:solidFill>
                  <a:srgbClr val="304B35"/>
                </a:solidFill>
                <a:latin typeface="Arial"/>
              </a:rPr>
              <a:t>–  Capped at the internal ledger balance; never a silent shortfall on a partial fill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0271F"/>
                </a:solidFill>
                <a:latin typeface="Arial"/>
              </a:rPr>
              <a:t>▸ KYC validation (company-only for now, via Odoo-based eligibility) issues a CredentialCreate of type OCTRO_KYC_VALID</a:t>
            </a:r>
            <a:endParaRPr/>
          </a:p>
          <a:p>
            <a:pPr lvl="1">
              <a:spcAft>
                <a:spcPts val="400"/>
              </a:spcAft>
              <a:defRPr/>
            </a:pPr>
            <a:r>
              <a:rPr sz="1600" b="0">
                <a:solidFill>
                  <a:srgbClr val="304B35"/>
                </a:solidFill>
                <a:latin typeface="Arial"/>
              </a:rPr>
              <a:t>–  Required to interact with Octro's lending pools; personal and independent forecasting stays unaffected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0271F"/>
                </a:solidFill>
                <a:latin typeface="Arial"/>
              </a:rPr>
              <a:t>▸ Personal workspace with no Organization, no wallet, no credit required</a:t>
            </a:r>
            <a:endParaRPr/>
          </a:p>
        </p:txBody>
      </p:sp>
      <p:sp>
        <p:nvSpPr>
          <p:cNvPr id="295090666" name="TextBox 7"/>
          <p:cNvSpPr txBox="1"/>
          <p:nvPr/>
        </p:nvSpPr>
        <p:spPr bwMode="auto"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6B7463"/>
                </a:solidFill>
                <a:latin typeface="Arial"/>
              </a:rPr>
              <a:t>2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8206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7992498" name="TextBox 2"/>
          <p:cNvSpPr txBox="1"/>
          <p:nvPr/>
        </p:nvSpPr>
        <p:spPr bwMode="auto">
          <a:xfrm>
            <a:off x="358325" y="28803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6000" b="1">
                <a:solidFill>
                  <a:srgbClr val="F5F2E8"/>
                </a:solidFill>
                <a:latin typeface="Georgia"/>
              </a:rPr>
              <a:t>→ Demo</a:t>
            </a:r>
            <a:endParaRPr/>
          </a:p>
        </p:txBody>
      </p:sp>
      <p:sp>
        <p:nvSpPr>
          <p:cNvPr id="2133664943" name="TextBox 3"/>
          <p:cNvSpPr txBox="1"/>
          <p:nvPr/>
        </p:nvSpPr>
        <p:spPr bwMode="auto"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B8C98A"/>
                </a:solidFill>
                <a:latin typeface="Arial"/>
              </a:rPr>
              <a:t>3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6690316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-31515" y="-789783"/>
            <a:ext cx="12219877" cy="73992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93169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202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1983603" name="TextBox 2"/>
          <p:cNvSpPr txBox="1"/>
          <p:nvPr/>
        </p:nvSpPr>
        <p:spPr bwMode="auto"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4400" b="1">
                <a:solidFill>
                  <a:srgbClr val="F5F2E8"/>
                </a:solidFill>
                <a:latin typeface="Georgia"/>
              </a:rPr>
              <a:t>Developer feedback — key points</a:t>
            </a:r>
            <a:endParaRPr/>
          </a:p>
        </p:txBody>
      </p:sp>
      <p:sp>
        <p:nvSpPr>
          <p:cNvPr id="251534851" name="TextBox 3"/>
          <p:cNvSpPr txBox="1"/>
          <p:nvPr/>
        </p:nvSpPr>
        <p:spPr bwMode="auto">
          <a:xfrm>
            <a:off x="868680" y="3794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>
                <a:solidFill>
                  <a:srgbClr val="B8C98A"/>
                </a:solidFill>
                <a:latin typeface="Arial"/>
              </a:rPr>
              <a:t>Algorithms  ·  Agentic orchestration  ·  MCP  ·  Machine learning</a:t>
            </a:r>
            <a:endParaRPr/>
          </a:p>
        </p:txBody>
      </p:sp>
      <p:sp>
        <p:nvSpPr>
          <p:cNvPr id="334257546" name="TextBox 4"/>
          <p:cNvSpPr txBox="1"/>
          <p:nvPr/>
        </p:nvSpPr>
        <p:spPr bwMode="auto"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B8C98A"/>
                </a:solidFill>
                <a:latin typeface="Arial"/>
              </a:rPr>
              <a:t>5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19430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5947607" name="TextBox 2"/>
          <p:cNvSpPr txBox="1"/>
          <p:nvPr/>
        </p:nvSpPr>
        <p:spPr bwMode="auto">
          <a:xfrm>
            <a:off x="658368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304B35"/>
                </a:solidFill>
                <a:latin typeface="Arial"/>
              </a:rPr>
              <a:t>FEEDBACK TO THE PROTOCOL TEAM</a:t>
            </a:r>
            <a:endParaRPr/>
          </a:p>
        </p:txBody>
      </p:sp>
      <p:sp>
        <p:nvSpPr>
          <p:cNvPr id="1482678157" name="TextBox 3"/>
          <p:cNvSpPr txBox="1"/>
          <p:nvPr/>
        </p:nvSpPr>
        <p:spPr bwMode="auto">
          <a:xfrm>
            <a:off x="640080" y="502920"/>
            <a:ext cx="10888199" cy="61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20271F"/>
                </a:solidFill>
                <a:latin typeface="Georgia"/>
              </a:rPr>
              <a:t>Developer feedback</a:t>
            </a:r>
            <a:endParaRPr/>
          </a:p>
        </p:txBody>
      </p:sp>
      <p:sp>
        <p:nvSpPr>
          <p:cNvPr id="557130066" name="Rectangle 4"/>
          <p:cNvSpPr/>
          <p:nvPr/>
        </p:nvSpPr>
        <p:spPr bwMode="auto">
          <a:xfrm>
            <a:off x="640080" y="1417320"/>
            <a:ext cx="1280160" cy="508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2414333" name="TextBox 5"/>
          <p:cNvSpPr txBox="1"/>
          <p:nvPr/>
        </p:nvSpPr>
        <p:spPr bwMode="auto"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100">
                <a:solidFill>
                  <a:srgbClr val="6B7463"/>
                </a:solidFill>
                <a:latin typeface="Arial"/>
              </a:rPr>
              <a:t>Octro v2.2 — Track 1 Loaded</a:t>
            </a:r>
            <a:endParaRPr/>
          </a:p>
        </p:txBody>
      </p:sp>
      <p:sp>
        <p:nvSpPr>
          <p:cNvPr id="30281058" name="TextBox 6"/>
          <p:cNvSpPr txBox="1"/>
          <p:nvPr/>
        </p:nvSpPr>
        <p:spPr bwMode="auto">
          <a:xfrm>
            <a:off x="685800" y="1874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1 — Silent dead transaction</a:t>
            </a:r>
            <a:endParaRPr/>
          </a:p>
        </p:txBody>
      </p:sp>
      <p:sp>
        <p:nvSpPr>
          <p:cNvPr id="284840952" name="TextBox 7"/>
          <p:cNvSpPr txBox="1"/>
          <p:nvPr/>
        </p:nvSpPr>
        <p:spPr bwMode="auto">
          <a:xfrm>
            <a:off x="685800" y="2258567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fundWallet() returns before its own funding Payment is validated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autofill then picks a Sequence one too low; submit still answers tesSUCCESS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Fix: wait for the funding to validate, or refuse to guess the Sequence</a:t>
            </a:r>
            <a:endParaRPr/>
          </a:p>
        </p:txBody>
      </p:sp>
      <p:sp>
        <p:nvSpPr>
          <p:cNvPr id="1945000155" name="TextBox 8"/>
          <p:cNvSpPr txBox="1"/>
          <p:nvPr/>
        </p:nvSpPr>
        <p:spPr bwMode="auto">
          <a:xfrm>
            <a:off x="6263640" y="1874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2 — LoanSet two-party signature</a:t>
            </a:r>
            <a:endParaRPr/>
          </a:p>
        </p:txBody>
      </p:sp>
      <p:sp>
        <p:nvSpPr>
          <p:cNvPr id="1987573841" name="TextBox 9"/>
          <p:cNvSpPr txBox="1"/>
          <p:nvPr/>
        </p:nvSpPr>
        <p:spPr bwMode="auto">
          <a:xfrm>
            <a:off x="6263640" y="2258567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LoanSet needs the broker owner’s CounterpartySignature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temBAD_SIGNER names no field and no missing party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Fix: add temMISSING_COUNTERPARTY_SIG; document one worked example</a:t>
            </a:r>
            <a:endParaRPr/>
          </a:p>
        </p:txBody>
      </p:sp>
      <p:sp>
        <p:nvSpPr>
          <p:cNvPr id="2029370420" name="TextBox 10"/>
          <p:cNvSpPr txBox="1"/>
          <p:nvPr/>
        </p:nvSpPr>
        <p:spPr bwMode="auto">
          <a:xfrm>
            <a:off x="685800" y="4160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3 — tfLoanFullPayment cannot be satisfied</a:t>
            </a:r>
            <a:endParaRPr/>
          </a:p>
        </p:txBody>
      </p:sp>
      <p:sp>
        <p:nvSpPr>
          <p:cNvPr id="670212621" name="TextBox 11"/>
          <p:cNvSpPr txBox="1"/>
          <p:nvPr/>
        </p:nvSpPr>
        <p:spPr bwMode="auto">
          <a:xfrm>
            <a:off x="685800" y="4544568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The true payoff is unrounded; the ledger publishes only the rounded value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The flag then kills the repayment with tecKILLED, and the fee is charged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Fix: publish an exact PayoffAmount, or settle the real balance</a:t>
            </a:r>
            <a:endParaRPr/>
          </a:p>
        </p:txBody>
      </p:sp>
      <p:sp>
        <p:nvSpPr>
          <p:cNvPr id="2140375518" name="TextBox 12"/>
          <p:cNvSpPr txBox="1"/>
          <p:nvPr/>
        </p:nvSpPr>
        <p:spPr bwMode="auto">
          <a:xfrm>
            <a:off x="6263640" y="4160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4 — Error codes and documentation</a:t>
            </a:r>
            <a:endParaRPr/>
          </a:p>
        </p:txBody>
      </p:sp>
      <p:sp>
        <p:nvSpPr>
          <p:cNvPr id="1073870745" name="TextBox 13"/>
          <p:cNvSpPr txBox="1"/>
          <p:nvPr/>
        </p:nvSpPr>
        <p:spPr bwMode="auto">
          <a:xfrm>
            <a:off x="6263640" y="4544568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SDK MIN_PAYMENT_INTERVAL is 60; rippled refuses it with a generic temINVALID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VaultCreate DomainID sits on the share MPT, not on the vault object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Fix: name the rejected field in each code; announce the amendment set</a:t>
            </a:r>
            <a:endParaRPr/>
          </a:p>
        </p:txBody>
      </p:sp>
      <p:sp>
        <p:nvSpPr>
          <p:cNvPr id="1943076380" name="TextBox 14"/>
          <p:cNvSpPr txBox="1"/>
          <p:nvPr/>
        </p:nvSpPr>
        <p:spPr bwMode="auto"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6B7463"/>
                </a:solidFill>
                <a:latin typeface="Arial"/>
              </a:rPr>
              <a:t>6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52883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689830" name="TextBox 2"/>
          <p:cNvSpPr txBox="1"/>
          <p:nvPr/>
        </p:nvSpPr>
        <p:spPr bwMode="auto">
          <a:xfrm>
            <a:off x="658368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304B35"/>
                </a:solidFill>
                <a:latin typeface="Arial"/>
              </a:rPr>
              <a:t>DEVELOPER FEEDBACK</a:t>
            </a:r>
            <a:endParaRPr/>
          </a:p>
        </p:txBody>
      </p:sp>
      <p:sp>
        <p:nvSpPr>
          <p:cNvPr id="245719219" name="TextBox 3"/>
          <p:cNvSpPr txBox="1"/>
          <p:nvPr/>
        </p:nvSpPr>
        <p:spPr bwMode="auto"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20271F"/>
                </a:solidFill>
                <a:latin typeface="Georgia"/>
              </a:rPr>
              <a:t>Algorithms, agents, MCP, ML</a:t>
            </a:r>
            <a:endParaRPr/>
          </a:p>
        </p:txBody>
      </p:sp>
      <p:sp>
        <p:nvSpPr>
          <p:cNvPr id="1516203814" name="Rectangle 4"/>
          <p:cNvSpPr/>
          <p:nvPr/>
        </p:nvSpPr>
        <p:spPr bwMode="auto">
          <a:xfrm>
            <a:off x="640080" y="1417320"/>
            <a:ext cx="1280160" cy="508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768760" name="TextBox 5"/>
          <p:cNvSpPr txBox="1"/>
          <p:nvPr/>
        </p:nvSpPr>
        <p:spPr bwMode="auto"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100">
                <a:solidFill>
                  <a:srgbClr val="6B7463"/>
                </a:solidFill>
                <a:latin typeface="Arial"/>
              </a:rPr>
              <a:t>Octro v2.2 — Track 1 Loaded</a:t>
            </a:r>
            <a:endParaRPr/>
          </a:p>
        </p:txBody>
      </p:sp>
      <p:sp>
        <p:nvSpPr>
          <p:cNvPr id="1011402082" name="TextBox 6"/>
          <p:cNvSpPr txBox="1"/>
          <p:nvPr/>
        </p:nvSpPr>
        <p:spPr bwMode="auto">
          <a:xfrm>
            <a:off x="685800" y="1874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Algorithms used</a:t>
            </a:r>
            <a:endParaRPr/>
          </a:p>
        </p:txBody>
      </p:sp>
      <p:sp>
        <p:nvSpPr>
          <p:cNvPr id="1284035324" name="TextBox 7"/>
          <p:cNvSpPr txBox="1"/>
          <p:nvPr/>
        </p:nvSpPr>
        <p:spPr bwMode="auto">
          <a:xfrm>
            <a:off x="685800" y="2258567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CVaR closed form (Rockafellar–Uryasev), verified on the CDC fixture → CVaR95 = 100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No-debt engine: protected reserve as a hard constraint; financing picks cheapest offer first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No unified LP/MILP solver yet (scipy/HiGHS)</a:t>
            </a:r>
            <a:endParaRPr/>
          </a:p>
        </p:txBody>
      </p:sp>
      <p:sp>
        <p:nvSpPr>
          <p:cNvPr id="1691399927" name="TextBox 8"/>
          <p:cNvSpPr txBox="1"/>
          <p:nvPr/>
        </p:nvSpPr>
        <p:spPr bwMode="auto">
          <a:xfrm>
            <a:off x="6263640" y="1874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Agentic orchestration</a:t>
            </a:r>
            <a:endParaRPr/>
          </a:p>
        </p:txBody>
      </p:sp>
      <p:sp>
        <p:nvSpPr>
          <p:cNvPr id="265144814" name="TextBox 9"/>
          <p:cNvSpPr txBox="1"/>
          <p:nvPr/>
        </p:nvSpPr>
        <p:spPr bwMode="auto">
          <a:xfrm>
            <a:off x="6263640" y="2258567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Bounded coordinator, 12 tool calls max (AGT-01)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No signing or submission tool reachable by the LLM (AGT-02)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Currently a 2-call shortcut, not the CDC's full 6-stage graph</a:t>
            </a:r>
            <a:endParaRPr/>
          </a:p>
        </p:txBody>
      </p:sp>
      <p:sp>
        <p:nvSpPr>
          <p:cNvPr id="75691389" name="TextBox 10"/>
          <p:cNvSpPr txBox="1"/>
          <p:nvPr/>
        </p:nvSpPr>
        <p:spPr bwMode="auto">
          <a:xfrm>
            <a:off x="685800" y="4160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MCP</a:t>
            </a:r>
            <a:endParaRPr/>
          </a:p>
        </p:txBody>
      </p:sp>
      <p:sp>
        <p:nvSpPr>
          <p:cNvPr id="1342224519" name="TextBox 11"/>
          <p:cNvSpPr txBox="1"/>
          <p:nvPr/>
        </p:nvSpPr>
        <p:spPr bwMode="auto">
          <a:xfrm>
            <a:off x="685800" y="4544568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3 tools exposed, strictly read-only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Signing and submission always outside the LLM and outside MCP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Responses currently hardcoded on the Lina fixture</a:t>
            </a:r>
            <a:endParaRPr/>
          </a:p>
        </p:txBody>
      </p:sp>
      <p:sp>
        <p:nvSpPr>
          <p:cNvPr id="1574925623" name="TextBox 12"/>
          <p:cNvSpPr txBox="1"/>
          <p:nvPr/>
        </p:nvSpPr>
        <p:spPr bwMode="auto">
          <a:xfrm>
            <a:off x="6263640" y="4160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304B35"/>
                </a:solidFill>
                <a:latin typeface="Arial"/>
              </a:rPr>
              <a:t>Machine learning</a:t>
            </a:r>
            <a:endParaRPr/>
          </a:p>
        </p:txBody>
      </p:sp>
      <p:sp>
        <p:nvSpPr>
          <p:cNvPr id="1678333193" name="TextBox 13"/>
          <p:cNvSpPr txBox="1"/>
          <p:nvPr/>
        </p:nvSpPr>
        <p:spPr bwMode="auto">
          <a:xfrm>
            <a:off x="6263640" y="4544568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No generative model invents a settlement probability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Scenario weights are fixed (0.80 / 0.15 / 0.05), shown as assumptions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350">
                <a:solidFill>
                  <a:srgbClr val="20271F"/>
                </a:solidFill>
                <a:latin typeface="Arial"/>
              </a:rPr>
              <a:t>▸ The LLM explains an already-computed plan, it doesn't recompute it</a:t>
            </a:r>
            <a:endParaRPr/>
          </a:p>
        </p:txBody>
      </p:sp>
      <p:sp>
        <p:nvSpPr>
          <p:cNvPr id="435990887" name="TextBox 14"/>
          <p:cNvSpPr txBox="1"/>
          <p:nvPr/>
        </p:nvSpPr>
        <p:spPr bwMode="auto"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6B7463"/>
                </a:solidFill>
                <a:latin typeface="Arial"/>
              </a:rPr>
              <a:t>7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2026-09-13T14:14:29Z</dcterms:modified>
  <cp:category/>
</cp:coreProperties>
</file>