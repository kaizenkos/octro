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04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0"/>
            <a:ext cx="105156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6400" b="1">
                <a:solidFill>
                  <a:srgbClr val="F5F2E8"/>
                </a:solidFill>
                <a:latin typeface="Georgia"/>
              </a:rPr>
              <a:t>Octro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3520440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B8C98A"/>
                </a:solidFill>
                <a:latin typeface="Arial"/>
              </a:rPr>
              <a:t>See a cash shortfall coming, choose no-debt options first, execute on XRPL only when it's actually needed.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5852160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F5F2E8"/>
                </a:solidFill>
                <a:latin typeface="Arial"/>
              </a:rPr>
              <a:t>CDC v2.2 · Track 1 Loaded · Kevin, Samet, Augustin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2860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304B35"/>
                </a:solidFill>
                <a:latin typeface="Arial"/>
              </a:rPr>
              <a:t>THE SUBJECT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0271F"/>
                </a:solidFill>
                <a:latin typeface="Georgia"/>
              </a:rPr>
              <a:t>One engine, three audiences, one promise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17320"/>
            <a:ext cx="1280160" cy="50800"/>
          </a:xfrm>
          <a:prstGeom prst="rect">
            <a:avLst/>
          </a:prstGeom>
          <a:solidFill>
            <a:srgbClr val="304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46520"/>
            <a:ext cx="10881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B7463"/>
                </a:solidFill>
                <a:latin typeface="Arial"/>
              </a:rPr>
              <a:t>Octro v2.2 — Track 1 Loaded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92024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>
                <a:solidFill>
                  <a:srgbClr val="20271F"/>
                </a:solidFill>
                <a:latin typeface="Arial"/>
              </a:rPr>
              <a:t>▸ Octro brings together available cash, expected income, and upcoming expenses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304B35"/>
                </a:solidFill>
                <a:latin typeface="Arial"/>
              </a:rPr>
              <a:t>–  Individuals, freelancers, and organizations run on the same financial coordination engine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20271F"/>
                </a:solidFill>
                <a:latin typeface="Arial"/>
              </a:rPr>
              <a:t>▸ The first question is never credit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304B35"/>
                </a:solidFill>
                <a:latin typeface="Arial"/>
              </a:rPr>
              <a:t>–  Priority to own funds and no-debt adjustments before any financing comparison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20271F"/>
                </a:solidFill>
                <a:latin typeface="Arial"/>
              </a:rPr>
              <a:t>▸ XRPL credit only steps in when it's genuinely relevant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304B35"/>
                </a:solidFill>
                <a:latin typeface="Arial"/>
              </a:rPr>
              <a:t>–  Track 1 Loaded: XLS-65/66 loan cycle with Credentials &amp; Permissioned Domains on a private vault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20271F"/>
                </a:solidFill>
                <a:latin typeface="Arial"/>
              </a:rPr>
              <a:t>▸ A liquidity buffer wallet advances withdrawals when the shared vault is temporarily illiquid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304B35"/>
                </a:solidFill>
                <a:latin typeface="Arial"/>
              </a:rPr>
              <a:t>–  Capped at the internal ledger balance; never a silent shortfall on a partial fill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20271F"/>
                </a:solidFill>
                <a:latin typeface="Arial"/>
              </a:rPr>
              <a:t>▸ KYC validation (company-only for now, via Odoo-based eligibility) issues a CredentialCreate of type OCTRO_KYC_VALID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304B35"/>
                </a:solidFill>
                <a:latin typeface="Arial"/>
              </a:rPr>
              <a:t>–  Required to interact with Octro's lending pools; personal and independent forecasting stays unaffected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20271F"/>
                </a:solidFill>
                <a:latin typeface="Arial"/>
              </a:rPr>
              <a:t>▸ Personal workspace with no Organization, no wallet, no credit required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04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880360"/>
            <a:ext cx="105156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000" b="1">
                <a:solidFill>
                  <a:srgbClr val="F5F2E8"/>
                </a:solidFill>
                <a:latin typeface="Georgia"/>
              </a:rPr>
              <a:t>→ Demo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2860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304B35"/>
                </a:solidFill>
                <a:latin typeface="Arial"/>
              </a:rPr>
              <a:t>WHERE OCTRO CAN PLUG 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0271F"/>
                </a:solidFill>
                <a:latin typeface="Georgia"/>
              </a:rPr>
              <a:t>Candidate connectors, not acquired integrations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17320"/>
            <a:ext cx="1280160" cy="50800"/>
          </a:xfrm>
          <a:prstGeom prst="rect">
            <a:avLst/>
          </a:prstGeom>
          <a:solidFill>
            <a:srgbClr val="304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46520"/>
            <a:ext cx="10881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B7463"/>
                </a:solidFill>
                <a:latin typeface="Arial"/>
              </a:rPr>
              <a:t>Octro v2.2 — Track 1 Loaded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92024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1">
                <a:solidFill>
                  <a:srgbClr val="20271F"/>
                </a:solidFill>
                <a:latin typeface="Arial"/>
              </a:rPr>
              <a:t>▸ Mobile money (African countries), UPI (India), PIX (Brazil), European banking, international PSPs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304B35"/>
                </a:solidFill>
                <a:latin typeface="Arial"/>
              </a:rPr>
              <a:t>–  Candidate connector families; language, low bandwidth, formats and local capabilities handled independently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20271F"/>
                </a:solidFill>
                <a:latin typeface="Arial"/>
              </a:rPr>
              <a:t>▸ No local connector: manual entry and import always remain available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304B35"/>
                </a:solidFill>
                <a:latin typeface="Arial"/>
              </a:rPr>
              <a:t>–  The personal baseline stays useful even when financing or a connection is unavailable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20271F"/>
                </a:solidFill>
                <a:latin typeface="Arial"/>
              </a:rPr>
              <a:t>▸ Availability assessed by capability and jurisdiction, never global by default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304B35"/>
                </a:solidFill>
                <a:latin typeface="Arial"/>
              </a:rPr>
              <a:t>–  Separate matrix for analysis / connection / transfer / financing — “global” doesn't mean every rail works everywhere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02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156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400" b="1">
                <a:solidFill>
                  <a:srgbClr val="F5F2E8"/>
                </a:solidFill>
                <a:latin typeface="Georgia"/>
              </a:rPr>
              <a:t>Developer feedback — 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3794760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B8C98A"/>
                </a:solidFill>
                <a:latin typeface="Arial"/>
              </a:rPr>
              <a:t>Algorithms  ·  Agentic orchestration  ·  MCP  ·  Machine learning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2860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304B35"/>
                </a:solidFill>
                <a:latin typeface="Arial"/>
              </a:rPr>
              <a:t>DEVELOPER FEEDBACK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0271F"/>
                </a:solidFill>
                <a:latin typeface="Georgia"/>
              </a:rPr>
              <a:t>Algorithms, agents, MCP, ML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17320"/>
            <a:ext cx="1280160" cy="50800"/>
          </a:xfrm>
          <a:prstGeom prst="rect">
            <a:avLst/>
          </a:prstGeom>
          <a:solidFill>
            <a:srgbClr val="304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46520"/>
            <a:ext cx="10881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B7463"/>
                </a:solidFill>
                <a:latin typeface="Arial"/>
              </a:rPr>
              <a:t>Octro v2.2 — Track 1 Loaded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874519"/>
            <a:ext cx="5394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304B35"/>
                </a:solidFill>
                <a:latin typeface="Arial"/>
              </a:rPr>
              <a:t>Algorithms used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258567"/>
            <a:ext cx="5394960" cy="176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50">
                <a:solidFill>
                  <a:srgbClr val="20271F"/>
                </a:solidFill>
                <a:latin typeface="Arial"/>
              </a:rPr>
              <a:t>▸ CVaR closed form (Rockafellar–Uryasev), verified on the CDC fixture → CVaR95 = 100</a:t>
            </a:r>
          </a:p>
          <a:p>
            <a:pPr>
              <a:spcAft>
                <a:spcPts val="600"/>
              </a:spcAft>
            </a:pPr>
            <a:r>
              <a:rPr sz="1350">
                <a:solidFill>
                  <a:srgbClr val="20271F"/>
                </a:solidFill>
                <a:latin typeface="Arial"/>
              </a:rPr>
              <a:t>▸ No-debt engine: protected reserve as a hard constraint; financing picks cheapest offer first</a:t>
            </a:r>
          </a:p>
          <a:p>
            <a:pPr>
              <a:spcAft>
                <a:spcPts val="600"/>
              </a:spcAft>
            </a:pPr>
            <a:r>
              <a:rPr sz="1350">
                <a:solidFill>
                  <a:srgbClr val="20271F"/>
                </a:solidFill>
                <a:latin typeface="Arial"/>
              </a:rPr>
              <a:t>▸ No unified LP/MILP solver yet (scipy/HiGHS)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1874519"/>
            <a:ext cx="5394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304B35"/>
                </a:solidFill>
                <a:latin typeface="Arial"/>
              </a:rPr>
              <a:t>Agentic orchestration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3640" y="2258567"/>
            <a:ext cx="5394960" cy="176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50">
                <a:solidFill>
                  <a:srgbClr val="20271F"/>
                </a:solidFill>
                <a:latin typeface="Arial"/>
              </a:rPr>
              <a:t>▸ Bounded coordinator, 12 tool calls max (AGT-01)</a:t>
            </a:r>
          </a:p>
          <a:p>
            <a:pPr>
              <a:spcAft>
                <a:spcPts val="600"/>
              </a:spcAft>
            </a:pPr>
            <a:r>
              <a:rPr sz="1350">
                <a:solidFill>
                  <a:srgbClr val="20271F"/>
                </a:solidFill>
                <a:latin typeface="Arial"/>
              </a:rPr>
              <a:t>▸ No signing or submission tool reachable by the LLM (AGT-02)</a:t>
            </a:r>
          </a:p>
          <a:p>
            <a:pPr>
              <a:spcAft>
                <a:spcPts val="600"/>
              </a:spcAft>
            </a:pPr>
            <a:r>
              <a:rPr sz="1350">
                <a:solidFill>
                  <a:srgbClr val="20271F"/>
                </a:solidFill>
                <a:latin typeface="Arial"/>
              </a:rPr>
              <a:t>▸ Currently a 2-call shortcut, not the CDC's full 6-stage graph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160520"/>
            <a:ext cx="5394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304B35"/>
                </a:solidFill>
                <a:latin typeface="Arial"/>
              </a:rPr>
              <a:t>MCP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544568"/>
            <a:ext cx="5394960" cy="176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50">
                <a:solidFill>
                  <a:srgbClr val="20271F"/>
                </a:solidFill>
                <a:latin typeface="Arial"/>
              </a:rPr>
              <a:t>▸ 3 tools exposed, strictly read-only</a:t>
            </a:r>
          </a:p>
          <a:p>
            <a:pPr>
              <a:spcAft>
                <a:spcPts val="600"/>
              </a:spcAft>
            </a:pPr>
            <a:r>
              <a:rPr sz="1350">
                <a:solidFill>
                  <a:srgbClr val="20271F"/>
                </a:solidFill>
                <a:latin typeface="Arial"/>
              </a:rPr>
              <a:t>▸ Signing and submission always outside the LLM and outside MCP</a:t>
            </a:r>
          </a:p>
          <a:p>
            <a:pPr>
              <a:spcAft>
                <a:spcPts val="600"/>
              </a:spcAft>
            </a:pPr>
            <a:r>
              <a:rPr sz="1350">
                <a:solidFill>
                  <a:srgbClr val="20271F"/>
                </a:solidFill>
                <a:latin typeface="Arial"/>
              </a:rPr>
              <a:t>▸ Responses currently hardcoded on the Lina fixture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4160520"/>
            <a:ext cx="5394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304B35"/>
                </a:solidFill>
                <a:latin typeface="Arial"/>
              </a:rPr>
              <a:t>Machine learning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4544568"/>
            <a:ext cx="5394960" cy="176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50">
                <a:solidFill>
                  <a:srgbClr val="20271F"/>
                </a:solidFill>
                <a:latin typeface="Arial"/>
              </a:rPr>
              <a:t>▸ No generative model invents a settlement probability</a:t>
            </a:r>
          </a:p>
          <a:p>
            <a:pPr>
              <a:spcAft>
                <a:spcPts val="600"/>
              </a:spcAft>
            </a:pPr>
            <a:r>
              <a:rPr sz="1350">
                <a:solidFill>
                  <a:srgbClr val="20271F"/>
                </a:solidFill>
                <a:latin typeface="Arial"/>
              </a:rPr>
              <a:t>▸ Scenario weights are fixed (0.80 / 0.15 / 0.05), shown as assumptions</a:t>
            </a:r>
          </a:p>
          <a:p>
            <a:pPr>
              <a:spcAft>
                <a:spcPts val="600"/>
              </a:spcAft>
            </a:pPr>
            <a:r>
              <a:rPr sz="1350">
                <a:solidFill>
                  <a:srgbClr val="20271F"/>
                </a:solidFill>
                <a:latin typeface="Arial"/>
              </a:rPr>
              <a:t>▸ The LLM explains an already-computed plan, it doesn't recompute it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